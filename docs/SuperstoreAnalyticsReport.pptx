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1"/>
  </p:notesMasterIdLst>
  <p:sldIdLst>
    <p:sldId id="257" r:id="rId2"/>
    <p:sldId id="258" r:id="rId3"/>
    <p:sldId id="259" r:id="rId4"/>
    <p:sldId id="260" r:id="rId5"/>
    <p:sldId id="261" r:id="rId6"/>
    <p:sldId id="262" r:id="rId7"/>
    <p:sldId id="263" r:id="rId8"/>
    <p:sldId id="256"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8FFF"/>
    <a:srgbClr val="A3A3FF"/>
    <a:srgbClr val="6C6CFA"/>
    <a:srgbClr val="3E3EF4"/>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snapToObjects="1">
      <p:cViewPr varScale="1">
        <p:scale>
          <a:sx n="64" d="100"/>
          <a:sy n="64" d="100"/>
        </p:scale>
        <p:origin x="102" y="8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9F5725-D03D-4D5F-8BEB-67ACD8E08A17}" type="datetimeFigureOut">
              <a:rPr lang="en-GB" smtClean="0"/>
              <a:t>01/11/2025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0DCBC1-DE5C-4568-A815-FB830872C3AC}" type="slidenum">
              <a:rPr lang="en-GB" smtClean="0"/>
              <a:t>‹#›</a:t>
            </a:fld>
            <a:endParaRPr lang="en-GB"/>
          </a:p>
        </p:txBody>
      </p:sp>
    </p:spTree>
    <p:extLst>
      <p:ext uri="{BB962C8B-B14F-4D97-AF65-F5344CB8AC3E}">
        <p14:creationId xmlns:p14="http://schemas.microsoft.com/office/powerpoint/2010/main" val="2002635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cardVisual</a:t>
            </a:r>
            <a:endParaRPr dirty="0"/>
          </a:p>
          <a:p>
            <a:r>
              <a:rPr b="0" dirty="0"/>
              <a:t>No alt text provided</a:t>
            </a:r>
            <a:endParaRPr dirty="0"/>
          </a:p>
          <a:p>
            <a:endParaRPr dirty="0"/>
          </a:p>
          <a:p>
            <a:r>
              <a:rPr b="1" dirty="0"/>
              <a:t>Monthly Sales and Profit Trend</a:t>
            </a:r>
            <a:endParaRPr dirty="0"/>
          </a:p>
          <a:p>
            <a:r>
              <a:rPr b="0" dirty="0"/>
              <a:t>No alt text provided</a:t>
            </a:r>
            <a:endParaRPr dirty="0"/>
          </a:p>
          <a:p>
            <a:endParaRPr dirty="0"/>
          </a:p>
          <a:p>
            <a:r>
              <a:rPr b="1" dirty="0"/>
              <a:t>Customer Segment Revenue Breakdown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advancedSlicerVisual</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Top 10 Customers by Total Sales</a:t>
            </a:r>
            <a:endParaRPr dirty="0"/>
          </a:p>
          <a:p>
            <a:r>
              <a:rPr b="0" dirty="0"/>
              <a:t>No alt text provided</a:t>
            </a:r>
            <a:endParaRPr dirty="0"/>
          </a:p>
          <a:p>
            <a:endParaRPr dirty="0"/>
          </a:p>
          <a:p>
            <a:r>
              <a:rPr b="1" dirty="0"/>
              <a:t>Customer Segment Distribution</a:t>
            </a:r>
            <a:endParaRPr dirty="0"/>
          </a:p>
          <a:p>
            <a:r>
              <a:rPr b="0" dirty="0"/>
              <a:t>No alt text provided</a:t>
            </a:r>
            <a:endParaRPr dirty="0"/>
          </a:p>
          <a:p>
            <a:endParaRPr dirty="0"/>
          </a:p>
          <a:p>
            <a:r>
              <a:rPr b="1" dirty="0"/>
              <a:t>Profit Contribution by Segment</a:t>
            </a:r>
            <a:endParaRPr dirty="0"/>
          </a:p>
          <a:p>
            <a:r>
              <a:rPr b="0" dirty="0"/>
              <a:t>No alt text provided</a:t>
            </a:r>
            <a:endParaRPr dirty="0"/>
          </a:p>
          <a:p>
            <a:endParaRPr dirty="0"/>
          </a:p>
          <a:p>
            <a:r>
              <a:rPr b="1" dirty="0"/>
              <a:t>Regional Profit Comparison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Sales Performance by State</a:t>
            </a:r>
            <a:endParaRPr dirty="0"/>
          </a:p>
          <a:p>
            <a:r>
              <a:rPr b="0" dirty="0"/>
              <a:t>No alt text provided</a:t>
            </a:r>
            <a:endParaRPr dirty="0"/>
          </a:p>
          <a:p>
            <a:endParaRPr dirty="0"/>
          </a:p>
          <a:p>
            <a:r>
              <a:rPr b="1" dirty="0"/>
              <a:t>Profit Distribution by State</a:t>
            </a:r>
            <a:endParaRPr dirty="0"/>
          </a:p>
          <a:p>
            <a:r>
              <a:rPr b="0" dirty="0"/>
              <a:t>No alt text provided</a:t>
            </a:r>
            <a:endParaRPr dirty="0"/>
          </a:p>
          <a:p>
            <a:endParaRPr dirty="0"/>
          </a:p>
          <a:p>
            <a:r>
              <a:rPr b="1" dirty="0"/>
              <a:t>Sales and Profit Comparison by Region</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Top Products by Total Sales</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Sales Dynamics by Segment and Region</a:t>
            </a:r>
            <a:endParaRPr dirty="0"/>
          </a:p>
          <a:p>
            <a:r>
              <a:rPr b="0" dirty="0"/>
              <a:t>No alt text provided</a:t>
            </a:r>
            <a:endParaRPr dirty="0"/>
          </a:p>
          <a:p>
            <a:endParaRPr dirty="0"/>
          </a:p>
          <a:p>
            <a:r>
              <a:rPr b="1" dirty="0"/>
              <a:t>Profit Dynamics by Segment and Region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Profit Contribution by Product Sub-Category</a:t>
            </a:r>
            <a:endParaRPr dirty="0"/>
          </a:p>
          <a:p>
            <a:r>
              <a:rPr b="0" dirty="0"/>
              <a:t>No alt text provided</a:t>
            </a:r>
            <a:endParaRPr dirty="0"/>
          </a:p>
          <a:p>
            <a:endParaRPr dirty="0"/>
          </a:p>
          <a:p>
            <a:r>
              <a:rPr b="1" dirty="0"/>
              <a:t>Discount vs Profit Relationship</a:t>
            </a:r>
            <a:endParaRPr dirty="0"/>
          </a:p>
          <a:p>
            <a:r>
              <a:rPr b="0" dirty="0"/>
              <a:t>No alt text provided</a:t>
            </a:r>
            <a:endParaRPr dirty="0"/>
          </a:p>
          <a:p>
            <a:endParaRPr dirty="0"/>
          </a:p>
          <a:p>
            <a:r>
              <a:rPr b="1" dirty="0"/>
              <a:t>Profit Growth Over Time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Breakdown of Sales by Customer Segment, Region, Product Category and Sub-Category</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8c85440d-3799-487d-8939-056bd6b11b31/?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8c85440d-3799-487d-8939-056bd6b11b31/?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8c85440d-3799-487d-8939-056bd6b11b31/?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8c85440d-3799-487d-8939-056bd6b11b31/?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8c85440d-3799-487d-8939-056bd6b11b31/?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8c85440d-3799-487d-8939-056bd6b11b31/?pbi_source=PowerPoint"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app.powerbi.com/groups/me/reports/8c85440d-3799-487d-8939-056bd6b11b31/?pbi_source=PowerPoint"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image ,textbox ,textbox ,textbox ,textbox ,image ,shape ,shape ,shape ,shape ,image ,textbox ,shape ,shape ,image ,textbox ,textbox ,image ,shape ,shape ,shape ,shape ,image ,textbox ,textbox ,textbox ,shape ,image ,shap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Home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ardVisual ,Monthly Sales and Profit Trend ,Customer Segment Revenue Breakdown ,shape ,textbox ,advancedSlicerVisual ,shape ,image ,image ,image ,image ,image ,image ,shape ,image ,textbox ,image ,shape ,shape ,cardVisual ,cardVisual ,shape ,shape ,cardVisual ,shape ,cardVisual ,shape ,cardVisual ,card ,areaChart ,areaChart ,card ,areaChart ,card ,areaChart ,card ,areaChart ,areaChart ,card ,card ,shape ,shape ,imag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Sales &amp; Performance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shape ,Top 10 Customers by Total Sales ,Customer Segment Distribution ,Profit Contribution by Segment ,Regional Profit Comparison ,image ,image ,image ,image ,image ,image ,shape ,shape ,textbox ,image ,image ,shape ,shape ,shape ,shape ,card ,card ,slicer ,slicer ,slicer ,imag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Customer Insights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shape ,Sales Performance by State ,Profit Distribution by State ,Sales and Profit Comparison by Region ,tableEx ,image ,image ,image ,image ,image ,image ,shape ,shape ,textbox ,image ,slicer ,slicer ,slicer ,image ,shape ,shape ,shape ,imag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Regional &amp; State Insights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shape ,Top Products by Total Sales ,pivotTable ,Sales Dynamics by Segment and Region ,Profit Dynamics by Segment and Region ,image ,image ,image ,image ,image ,image ,shape ,shape ,textbox ,image ,slicer ,slicer ,slicer ,image ,shape ,shape ,shape ,imag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Product &amp; Category Performance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shape ,Profit Contribution by Product Sub-Category ,Discount vs Profit Relationship ,Profit Growth Over Time ,image ,image ,image ,image ,image ,image ,shape ,shape ,textbox ,image ,slicer ,slicer ,slicer ,image ,shape ,shape ,shape ,imag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Profitability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shape ,donutChart ,donutChart ,donutChart ,textbox ,Breakdown of Sales by Customer Segment, Region, Product Category and Sub-Category ,pivotTable ,image ,image ,image ,image ,image ,image ,shape ,shape ,textbox ,image ,slicer ,slicer ,slicer ,image ,cardVisual ,cardVisual ,cardVisual ,shape ,shape ,image ,actionButton.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Segment-Level Behavior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3E3EF4"/>
            </a:gs>
            <a:gs pos="74000">
              <a:srgbClr val="6C6CFA"/>
            </a:gs>
            <a:gs pos="100000">
              <a:srgbClr val="8E8FFF"/>
            </a:gs>
          </a:gsLst>
          <a:lin ang="5400000" scaled="1"/>
        </a:gra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7B54864-9F12-42FB-BEE8-EBF2797900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4035" y="1047058"/>
            <a:ext cx="5143929" cy="2873704"/>
          </a:xfrm>
          <a:prstGeom prst="rect">
            <a:avLst/>
          </a:prstGeom>
        </p:spPr>
      </p:pic>
      <p:pic>
        <p:nvPicPr>
          <p:cNvPr id="13" name="Picture 12">
            <a:extLst>
              <a:ext uri="{FF2B5EF4-FFF2-40B4-BE49-F238E27FC236}">
                <a16:creationId xmlns:a16="http://schemas.microsoft.com/office/drawing/2014/main" id="{A5FA5603-1E0F-4028-A39C-838C755EF7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576" y="4188388"/>
            <a:ext cx="4025724" cy="2246481"/>
          </a:xfrm>
          <a:prstGeom prst="rect">
            <a:avLst/>
          </a:prstGeom>
        </p:spPr>
      </p:pic>
      <p:pic>
        <p:nvPicPr>
          <p:cNvPr id="15" name="Picture 14">
            <a:extLst>
              <a:ext uri="{FF2B5EF4-FFF2-40B4-BE49-F238E27FC236}">
                <a16:creationId xmlns:a16="http://schemas.microsoft.com/office/drawing/2014/main" id="{06BBC208-A3B5-4874-A06D-05A1E8E4E7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1702" y="4188387"/>
            <a:ext cx="4045172" cy="2246481"/>
          </a:xfrm>
          <a:prstGeom prst="rect">
            <a:avLst/>
          </a:prstGeom>
        </p:spPr>
      </p:pic>
      <p:sp>
        <p:nvSpPr>
          <p:cNvPr id="16" name="TextBox 15">
            <a:extLst>
              <a:ext uri="{FF2B5EF4-FFF2-40B4-BE49-F238E27FC236}">
                <a16:creationId xmlns:a16="http://schemas.microsoft.com/office/drawing/2014/main" id="{740A47DB-CE5A-48E7-A270-7FF1065D26AC}"/>
              </a:ext>
            </a:extLst>
          </p:cNvPr>
          <p:cNvSpPr txBox="1"/>
          <p:nvPr/>
        </p:nvSpPr>
        <p:spPr>
          <a:xfrm>
            <a:off x="3867150" y="168843"/>
            <a:ext cx="4457700" cy="584775"/>
          </a:xfrm>
          <a:prstGeom prst="rect">
            <a:avLst/>
          </a:prstGeom>
          <a:noFill/>
        </p:spPr>
        <p:txBody>
          <a:bodyPr wrap="square" rtlCol="0">
            <a:spAutoFit/>
          </a:bodyPr>
          <a:lstStyle/>
          <a:p>
            <a:pPr algn="ctr"/>
            <a:r>
              <a:rPr lang="en-US" sz="3200" b="1" dirty="0">
                <a:solidFill>
                  <a:schemeClr val="bg1"/>
                </a:solidFill>
              </a:rPr>
              <a:t>Report Tooltips</a:t>
            </a:r>
            <a:endParaRPr lang="en-GB" sz="3200" b="1" dirty="0">
              <a:solidFill>
                <a:schemeClr val="bg1"/>
              </a:solidFill>
            </a:endParaRPr>
          </a:p>
        </p:txBody>
      </p:sp>
    </p:spTree>
    <p:extLst>
      <p:ext uri="{BB962C8B-B14F-4D97-AF65-F5344CB8AC3E}">
        <p14:creationId xmlns:p14="http://schemas.microsoft.com/office/powerpoint/2010/main" val="3484284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3E3EF4"/>
            </a:gs>
            <a:gs pos="74000">
              <a:srgbClr val="6C6CFA"/>
            </a:gs>
            <a:gs pos="100000">
              <a:srgbClr val="8E8FFF"/>
            </a:gs>
          </a:gsLst>
          <a:lin ang="5400000" scaled="1"/>
        </a:gra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DCE252D-1A59-4E35-9FB2-D969542FF0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9555" y="3959471"/>
            <a:ext cx="4692890" cy="2598005"/>
          </a:xfrm>
          <a:prstGeom prst="rect">
            <a:avLst/>
          </a:prstGeom>
        </p:spPr>
      </p:pic>
      <p:pic>
        <p:nvPicPr>
          <p:cNvPr id="7" name="Picture 6">
            <a:extLst>
              <a:ext uri="{FF2B5EF4-FFF2-40B4-BE49-F238E27FC236}">
                <a16:creationId xmlns:a16="http://schemas.microsoft.com/office/drawing/2014/main" id="{D98F9F73-080A-476C-A19A-CF4604472D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5606" y="1094537"/>
            <a:ext cx="4097493" cy="2246400"/>
          </a:xfrm>
          <a:prstGeom prst="rect">
            <a:avLst/>
          </a:prstGeom>
        </p:spPr>
      </p:pic>
      <p:pic>
        <p:nvPicPr>
          <p:cNvPr id="8" name="Picture 7">
            <a:extLst>
              <a:ext uri="{FF2B5EF4-FFF2-40B4-BE49-F238E27FC236}">
                <a16:creationId xmlns:a16="http://schemas.microsoft.com/office/drawing/2014/main" id="{F9BD396F-3BB2-44A2-BE4A-2F72596D33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8901" y="1094537"/>
            <a:ext cx="4030853" cy="2246400"/>
          </a:xfrm>
          <a:prstGeom prst="rect">
            <a:avLst/>
          </a:prstGeom>
        </p:spPr>
      </p:pic>
      <p:sp>
        <p:nvSpPr>
          <p:cNvPr id="10" name="TextBox 9">
            <a:extLst>
              <a:ext uri="{FF2B5EF4-FFF2-40B4-BE49-F238E27FC236}">
                <a16:creationId xmlns:a16="http://schemas.microsoft.com/office/drawing/2014/main" id="{0AB4BE2C-A885-47E4-BB19-E73509CF062E}"/>
              </a:ext>
            </a:extLst>
          </p:cNvPr>
          <p:cNvSpPr txBox="1"/>
          <p:nvPr/>
        </p:nvSpPr>
        <p:spPr>
          <a:xfrm>
            <a:off x="3867150" y="168843"/>
            <a:ext cx="4457700" cy="584775"/>
          </a:xfrm>
          <a:prstGeom prst="rect">
            <a:avLst/>
          </a:prstGeom>
          <a:noFill/>
        </p:spPr>
        <p:txBody>
          <a:bodyPr wrap="square" rtlCol="0">
            <a:spAutoFit/>
          </a:bodyPr>
          <a:lstStyle/>
          <a:p>
            <a:pPr algn="ctr"/>
            <a:r>
              <a:rPr lang="en-US" sz="3200" b="1" dirty="0">
                <a:solidFill>
                  <a:schemeClr val="bg1"/>
                </a:solidFill>
              </a:rPr>
              <a:t>Report Drill Through</a:t>
            </a:r>
            <a:endParaRPr lang="en-GB" sz="3200" b="1" dirty="0">
              <a:solidFill>
                <a:schemeClr val="bg1"/>
              </a:solidFill>
            </a:endParaRPr>
          </a:p>
        </p:txBody>
      </p:sp>
      <p:cxnSp>
        <p:nvCxnSpPr>
          <p:cNvPr id="11" name="Straight Arrow Connector 10">
            <a:extLst>
              <a:ext uri="{FF2B5EF4-FFF2-40B4-BE49-F238E27FC236}">
                <a16:creationId xmlns:a16="http://schemas.microsoft.com/office/drawing/2014/main" id="{C1FA8E74-A579-476A-A642-D20BBFA14576}"/>
              </a:ext>
            </a:extLst>
          </p:cNvPr>
          <p:cNvCxnSpPr>
            <a:cxnSpLocks/>
          </p:cNvCxnSpPr>
          <p:nvPr/>
        </p:nvCxnSpPr>
        <p:spPr>
          <a:xfrm>
            <a:off x="3571875" y="3429000"/>
            <a:ext cx="590550" cy="36195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2757830-9F82-4959-929E-0EE0E779A15F}"/>
              </a:ext>
            </a:extLst>
          </p:cNvPr>
          <p:cNvCxnSpPr>
            <a:cxnSpLocks/>
          </p:cNvCxnSpPr>
          <p:nvPr/>
        </p:nvCxnSpPr>
        <p:spPr>
          <a:xfrm flipH="1">
            <a:off x="8029575" y="3438525"/>
            <a:ext cx="590550" cy="36195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475635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TotalTime>
  <Words>1084</Words>
  <Application>Microsoft Office PowerPoint</Application>
  <PresentationFormat>Widescreen</PresentationFormat>
  <Paragraphs>599</Paragraphs>
  <Slides>9</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Custom Design</vt:lpstr>
      <vt:lpstr>Home</vt:lpstr>
      <vt:lpstr>Sales &amp; Performance</vt:lpstr>
      <vt:lpstr>Customer Insights</vt:lpstr>
      <vt:lpstr>Regional &amp; State Insights</vt:lpstr>
      <vt:lpstr>Product &amp; Category Performance</vt:lpstr>
      <vt:lpstr>Profitability Analysis</vt:lpstr>
      <vt:lpstr>Segment-Level Behavior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Izundu Dan-Ekeh</cp:lastModifiedBy>
  <cp:revision>6</cp:revision>
  <dcterms:created xsi:type="dcterms:W3CDTF">2016-09-04T11:54:55Z</dcterms:created>
  <dcterms:modified xsi:type="dcterms:W3CDTF">2025-11-01T07:54:17Z</dcterms:modified>
</cp:coreProperties>
</file>